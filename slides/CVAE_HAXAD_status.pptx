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76" r:id="rId9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59" r:id="rId10"/>
    <p:sldId id="284" r:id="rId46"/>
    <p:sldId id="285" r:id="rId47"/>
    <p:sldId id="286" r:id="rId48"/>
    <p:sldId id="287" r:id="rId49"/>
    <p:sldId id="288" r:id="rId50"/>
  </p:sldIdLst>
  <p:sldSz cy="6858000" cx="12192000"/>
  <p:notesSz cx="6858000" cy="9144000"/>
  <p:embeddedFontLst>
    <p:embeddedFont>
      <p:font typeface="Lato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Lato Black"/>
      <p:bold r:id="rId20"/>
      <p:boldItalic r:id="rId21"/>
    </p:embeddedFont>
    <p:embeddedFont>
      <p:font typeface="Comfortaa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28">
          <p15:clr>
            <a:srgbClr val="A4A3A4"/>
          </p15:clr>
        </p15:guide>
        <p15:guide id="3" pos="478">
          <p15:clr>
            <a:srgbClr val="A4A3A4"/>
          </p15:clr>
        </p15:guide>
        <p15:guide id="4" orient="horz" pos="11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28"/>
        <p:guide pos="478"/>
        <p:guide pos="1158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9" Type="http://schemas.openxmlformats.org/officeDocument/2006/relationships/slide" Target="slides/slide20.xml"/><Relationship Id="rId10" Type="http://schemas.openxmlformats.org/officeDocument/2006/relationships/slide" Target="slides/slide18.xml"/><Relationship Id="rId12" Type="http://schemas.openxmlformats.org/officeDocument/2006/relationships/font" Target="fonts/Lato-regular.fntdata"/><Relationship Id="rId13" Type="http://schemas.openxmlformats.org/officeDocument/2006/relationships/font" Target="fonts/Lato-bold.fntdata"/><Relationship Id="rId14" Type="http://schemas.openxmlformats.org/officeDocument/2006/relationships/font" Target="fonts/Lato-italic.fntdata"/><Relationship Id="rId15" Type="http://schemas.openxmlformats.org/officeDocument/2006/relationships/font" Target="fonts/Lato-boldItalic.fntdata"/><Relationship Id="rId16" Type="http://schemas.openxmlformats.org/officeDocument/2006/relationships/font" Target="fonts/Montserrat-regular.fntdata"/><Relationship Id="rId17" Type="http://schemas.openxmlformats.org/officeDocument/2006/relationships/font" Target="fonts/Montserrat-bold.fntdata"/><Relationship Id="rId18" Type="http://schemas.openxmlformats.org/officeDocument/2006/relationships/font" Target="fonts/Montserrat-italic.fntdata"/><Relationship Id="rId19" Type="http://schemas.openxmlformats.org/officeDocument/2006/relationships/font" Target="fonts/Montserrat-boldItalic.fntdata"/><Relationship Id="rId20" Type="http://schemas.openxmlformats.org/officeDocument/2006/relationships/font" Target="fonts/LatoBlack-bold.fntdata"/><Relationship Id="rId21" Type="http://schemas.openxmlformats.org/officeDocument/2006/relationships/font" Target="fonts/LatoBlack-boldItalic.fntdata"/><Relationship Id="rId22" Type="http://schemas.openxmlformats.org/officeDocument/2006/relationships/font" Target="fonts/Comfortaa-regular.fntdata"/><Relationship Id="rId23" Type="http://schemas.openxmlformats.org/officeDocument/2006/relationships/font" Target="fonts/Comfortaa-bold.fntdata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Relationship Id="rId42" Type="http://schemas.openxmlformats.org/officeDocument/2006/relationships/slide" Target="slides/slide24.xml"/><Relationship Id="rId43" Type="http://schemas.openxmlformats.org/officeDocument/2006/relationships/slide" Target="slides/slide25.xml"/><Relationship Id="rId44" Type="http://schemas.openxmlformats.org/officeDocument/2006/relationships/slide" Target="slides/slide26.xml"/><Relationship Id="rId45" Type="http://schemas.openxmlformats.org/officeDocument/2006/relationships/slide" Target="slides/slide27.xml"/><Relationship Id="rId46" Type="http://schemas.openxmlformats.org/officeDocument/2006/relationships/slide" Target="slides/slide28.xml"/><Relationship Id="rId47" Type="http://schemas.openxmlformats.org/officeDocument/2006/relationships/slide" Target="slides/slide29.xml"/><Relationship Id="rId48" Type="http://schemas.openxmlformats.org/officeDocument/2006/relationships/slide" Target="slides/slide30.xml"/><Relationship Id="rId49" Type="http://schemas.openxmlformats.org/officeDocument/2006/relationships/slide" Target="slides/slide31.xml"/><Relationship Id="rId50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02226a72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a02226a72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Relationship Id="rId3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1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1" showMasterSp="0">
  <p:cSld name="Title Slide - Option 1">
    <p:bg>
      <p:bgPr>
        <a:gradFill>
          <a:gsLst>
            <a:gs pos="0">
              <a:srgbClr val="E04F39"/>
            </a:gs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00" scaled="0"/>
        </a:gra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95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00100" y="647701"/>
            <a:ext cx="7563494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800099" y="2931546"/>
            <a:ext cx="7563495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800100" y="3941112"/>
            <a:ext cx="7563494" cy="36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body"/>
          </p:nvPr>
        </p:nvSpPr>
        <p:spPr>
          <a:xfrm>
            <a:off x="800100" y="4306401"/>
            <a:ext cx="51997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None/>
              <a:defRPr b="1" i="0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2"/>
          <p:cNvCxnSpPr/>
          <p:nvPr/>
        </p:nvCxnSpPr>
        <p:spPr>
          <a:xfrm>
            <a:off x="800100" y="3762332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2838" y="6070062"/>
            <a:ext cx="2240209" cy="472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2" showMasterSp="0">
  <p:cSld name="Title Slide - Option 2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ocean floor&#10;&#10;Description automatically generated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00100" y="647701"/>
            <a:ext cx="7563494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800099" y="2931546"/>
            <a:ext cx="7563495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4D1D1"/>
              </a:buClr>
              <a:buSzPts val="2800"/>
              <a:buFont typeface="Lato"/>
              <a:buNone/>
              <a:defRPr sz="2800">
                <a:solidFill>
                  <a:srgbClr val="D4D1D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3" type="body"/>
          </p:nvPr>
        </p:nvSpPr>
        <p:spPr>
          <a:xfrm>
            <a:off x="800100" y="3941112"/>
            <a:ext cx="7563494" cy="36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4" type="body"/>
          </p:nvPr>
        </p:nvSpPr>
        <p:spPr>
          <a:xfrm>
            <a:off x="800100" y="4306401"/>
            <a:ext cx="51997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D4D1D1"/>
              </a:buClr>
              <a:buSzPts val="1600"/>
              <a:buFont typeface="Lato"/>
              <a:buNone/>
              <a:defRPr b="1" i="0" sz="1600">
                <a:solidFill>
                  <a:srgbClr val="D4D1D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" name="Google Shape;28;p3"/>
          <p:cNvCxnSpPr/>
          <p:nvPr/>
        </p:nvCxnSpPr>
        <p:spPr>
          <a:xfrm>
            <a:off x="800100" y="3762332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2838" y="6070062"/>
            <a:ext cx="2240209" cy="472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5" showMasterSp="0">
  <p:cSld name="Title Slide - Option 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00099" y="647700"/>
            <a:ext cx="7013041" cy="21994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ato"/>
              <a:buNone/>
              <a:defRPr b="1" i="0" sz="4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2" type="body"/>
          </p:nvPr>
        </p:nvSpPr>
        <p:spPr>
          <a:xfrm>
            <a:off x="800100" y="2884411"/>
            <a:ext cx="701304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2800"/>
              <a:buFont typeface="Lato"/>
              <a:buNone/>
              <a:defRPr sz="2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3" type="body"/>
          </p:nvPr>
        </p:nvSpPr>
        <p:spPr>
          <a:xfrm>
            <a:off x="800099" y="3845860"/>
            <a:ext cx="7013041" cy="395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4" type="body"/>
          </p:nvPr>
        </p:nvSpPr>
        <p:spPr>
          <a:xfrm>
            <a:off x="800098" y="4241336"/>
            <a:ext cx="7013041" cy="395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1800"/>
              <a:buFont typeface="Lato"/>
              <a:buNone/>
              <a:defRPr b="0" i="0" sz="18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9223" y="6070062"/>
            <a:ext cx="2240209" cy="472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A" showMasterSp="0">
  <p:cSld name="Title Slide - Option 4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39" name="Google Shape;39;p5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logo&#10;&#10;Description automatically generated" id="44" name="Google Shape;4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Option 4C - Printable" showMasterSp="0">
  <p:cSld name="1_Title Slide - Option 4C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8" name="Google Shape;48;p6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52" name="Google Shape;5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6" showMasterSp="0">
  <p:cSld name="Title Slide - Option 6">
    <p:bg>
      <p:bgPr>
        <a:solidFill>
          <a:srgbClr val="D4D1D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" type="body"/>
          </p:nvPr>
        </p:nvSpPr>
        <p:spPr>
          <a:xfrm>
            <a:off x="800099" y="487442"/>
            <a:ext cx="6210301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ato"/>
              <a:buNone/>
              <a:defRPr sz="4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800100" y="2903265"/>
            <a:ext cx="5947562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2800"/>
              <a:buFont typeface="Lato"/>
              <a:buNone/>
              <a:defRPr sz="2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800100" y="4413375"/>
            <a:ext cx="5947564" cy="37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4" type="body"/>
          </p:nvPr>
        </p:nvSpPr>
        <p:spPr>
          <a:xfrm>
            <a:off x="800097" y="4806484"/>
            <a:ext cx="5947565" cy="374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 Black"/>
              <a:buNone/>
              <a:defRPr b="1" i="0" sz="1200">
                <a:solidFill>
                  <a:srgbClr val="3F3F3F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58" name="Google Shape;58;p7"/>
          <p:cNvCxnSpPr/>
          <p:nvPr/>
        </p:nvCxnSpPr>
        <p:spPr>
          <a:xfrm>
            <a:off x="0" y="4191000"/>
            <a:ext cx="7340828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" name="Google Shape;59;p7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>
            <p:ph idx="5" type="pic"/>
          </p:nvPr>
        </p:nvSpPr>
        <p:spPr>
          <a:xfrm>
            <a:off x="7340826" y="0"/>
            <a:ext cx="4851173" cy="586898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pic>
        <p:nvPicPr>
          <p:cNvPr descr="A black and white logo&#10;&#10;Description automatically generated"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6 - Printable" showMasterSp="0">
  <p:cSld name="Title Slide - Option 6 - Printable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idx="1" type="body"/>
          </p:nvPr>
        </p:nvSpPr>
        <p:spPr>
          <a:xfrm>
            <a:off x="800099" y="487442"/>
            <a:ext cx="5947565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Lato"/>
              <a:buNone/>
              <a:defRPr sz="4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2" type="body"/>
          </p:nvPr>
        </p:nvSpPr>
        <p:spPr>
          <a:xfrm>
            <a:off x="800100" y="2903265"/>
            <a:ext cx="5947562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2800"/>
              <a:buFont typeface="Lato"/>
              <a:buNone/>
              <a:defRPr sz="2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3" type="body"/>
          </p:nvPr>
        </p:nvSpPr>
        <p:spPr>
          <a:xfrm>
            <a:off x="800100" y="4413375"/>
            <a:ext cx="5947564" cy="3742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4" type="body"/>
          </p:nvPr>
        </p:nvSpPr>
        <p:spPr>
          <a:xfrm>
            <a:off x="800097" y="4806484"/>
            <a:ext cx="5947565" cy="374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Lato Black"/>
              <a:buNone/>
              <a:defRPr b="1" i="0" sz="1200">
                <a:solidFill>
                  <a:srgbClr val="3F3F3F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8" name="Google Shape;68;p8"/>
          <p:cNvCxnSpPr/>
          <p:nvPr/>
        </p:nvCxnSpPr>
        <p:spPr>
          <a:xfrm>
            <a:off x="0" y="4191000"/>
            <a:ext cx="7340828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" name="Google Shape;69;p8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>
            <p:ph idx="5" type="pic"/>
          </p:nvPr>
        </p:nvSpPr>
        <p:spPr>
          <a:xfrm>
            <a:off x="7340826" y="0"/>
            <a:ext cx="4851173" cy="5868988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pic>
        <p:nvPicPr>
          <p:cNvPr descr="A black and white logo&#10;&#10;Description automatically generated"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 - Option 3">
  <p:cSld name="1_Title Slide - Option 3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0CECE"/>
          </a:solidFill>
          <a:ln>
            <a:noFill/>
          </a:ln>
        </p:spPr>
      </p:sp>
      <p:sp>
        <p:nvSpPr>
          <p:cNvPr id="75" name="Google Shape;75;p9"/>
          <p:cNvSpPr txBox="1"/>
          <p:nvPr>
            <p:ph idx="1" type="body"/>
          </p:nvPr>
        </p:nvSpPr>
        <p:spPr>
          <a:xfrm>
            <a:off x="800100" y="647701"/>
            <a:ext cx="7563494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3" type="body"/>
          </p:nvPr>
        </p:nvSpPr>
        <p:spPr>
          <a:xfrm>
            <a:off x="800099" y="2931546"/>
            <a:ext cx="7563495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4" type="body"/>
          </p:nvPr>
        </p:nvSpPr>
        <p:spPr>
          <a:xfrm>
            <a:off x="800100" y="3941112"/>
            <a:ext cx="7563494" cy="363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  <a:defRPr sz="1800">
                <a:solidFill>
                  <a:schemeClr val="lt1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5" type="body"/>
          </p:nvPr>
        </p:nvSpPr>
        <p:spPr>
          <a:xfrm>
            <a:off x="800099" y="4306401"/>
            <a:ext cx="75634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None/>
              <a:defRPr b="1" i="0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9"/>
          <p:cNvSpPr txBox="1"/>
          <p:nvPr>
            <p:ph idx="6" type="body"/>
          </p:nvPr>
        </p:nvSpPr>
        <p:spPr>
          <a:xfrm>
            <a:off x="800099" y="3740943"/>
            <a:ext cx="10553701" cy="4571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7" type="body"/>
          </p:nvPr>
        </p:nvSpPr>
        <p:spPr>
          <a:xfrm>
            <a:off x="759144" y="6156325"/>
            <a:ext cx="1734820" cy="3222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62838" y="6070062"/>
            <a:ext cx="2240209" cy="472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B" showMasterSp="0">
  <p:cSld name="Title Slide - Option 4B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0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5" name="Google Shape;85;p10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" name="Google Shape;86;p10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0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89" name="Google Shape;8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C" showMasterSp="0">
  <p:cSld name="Title Slide - Option 4C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93" name="Google Shape;93;p11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4" name="Google Shape;94;p11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97" name="Google Shape;9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A - Printable" showMasterSp="0">
  <p:cSld name="Title Slide - Option 4A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0" name="Google Shape;100;p12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12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logo&#10;&#10;Description automatically generated" id="105" name="Google Shape;10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Option 4B - Printable" showMasterSp="0">
  <p:cSld name="Title Slide - Option 4B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9786" y="6147835"/>
            <a:ext cx="1734821" cy="33119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800100" y="638271"/>
            <a:ext cx="6449112" cy="22465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1" sz="4800">
                <a:solidFill>
                  <a:srgbClr val="8C1515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09" name="Google Shape;109;p13"/>
          <p:cNvCxnSpPr/>
          <p:nvPr/>
        </p:nvCxnSpPr>
        <p:spPr>
          <a:xfrm>
            <a:off x="0" y="5868971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13"/>
          <p:cNvSpPr txBox="1"/>
          <p:nvPr>
            <p:ph idx="2" type="body"/>
          </p:nvPr>
        </p:nvSpPr>
        <p:spPr>
          <a:xfrm>
            <a:off x="800100" y="2903265"/>
            <a:ext cx="6553200" cy="5054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Lato"/>
              <a:buNone/>
              <a:defRPr sz="2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3" type="body"/>
          </p:nvPr>
        </p:nvSpPr>
        <p:spPr>
          <a:xfrm>
            <a:off x="800100" y="3836713"/>
            <a:ext cx="6553200" cy="41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sz="18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chemeClr val="lt1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chemeClr val="lt1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4" type="body"/>
          </p:nvPr>
        </p:nvSpPr>
        <p:spPr>
          <a:xfrm>
            <a:off x="800100" y="4260940"/>
            <a:ext cx="6553200" cy="416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  <a:defRPr b="0" i="0" sz="18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00B0F0"/>
                </a:solidFill>
              </a:defRPr>
            </a:lvl2pPr>
            <a:lvl3pPr indent="-34036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00B0F0"/>
                </a:solidFill>
              </a:defRPr>
            </a:lvl3pPr>
            <a:lvl4pPr indent="-328168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4pPr>
            <a:lvl5pPr indent="-328168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00B0F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A black and white logo&#10;&#10;Description automatically generated" id="113" name="Google Shape;1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8609" y="6064702"/>
            <a:ext cx="2256832" cy="4757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ayout">
  <p:cSld name="Blank Layou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4"/>
          <p:cNvSpPr txBox="1"/>
          <p:nvPr>
            <p:ph idx="1" type="body"/>
          </p:nvPr>
        </p:nvSpPr>
        <p:spPr>
          <a:xfrm>
            <a:off x="838200" y="1819275"/>
            <a:ext cx="10515600" cy="4560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indent="-356616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1 Column">
  <p:cSld name="Text Slide - 1 Column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idx="1" type="body"/>
          </p:nvPr>
        </p:nvSpPr>
        <p:spPr>
          <a:xfrm>
            <a:off x="800100" y="1110216"/>
            <a:ext cx="1055370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800100" y="266701"/>
            <a:ext cx="10553700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6" name="Google Shape;126;p16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16"/>
          <p:cNvSpPr txBox="1"/>
          <p:nvPr>
            <p:ph idx="2" type="body"/>
          </p:nvPr>
        </p:nvSpPr>
        <p:spPr>
          <a:xfrm>
            <a:off x="800100" y="1605068"/>
            <a:ext cx="10553700" cy="4452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16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Option 2">
  <p:cSld name="Agenda - Option 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4383050" y="723007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2" name="Google Shape;132;p17"/>
          <p:cNvSpPr txBox="1"/>
          <p:nvPr>
            <p:ph idx="2" type="body"/>
          </p:nvPr>
        </p:nvSpPr>
        <p:spPr>
          <a:xfrm>
            <a:off x="6096001" y="722981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3" type="body"/>
          </p:nvPr>
        </p:nvSpPr>
        <p:spPr>
          <a:xfrm>
            <a:off x="6096001" y="1048833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4" type="body"/>
          </p:nvPr>
        </p:nvSpPr>
        <p:spPr>
          <a:xfrm>
            <a:off x="4383050" y="1520675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7"/>
          <p:cNvSpPr txBox="1"/>
          <p:nvPr>
            <p:ph idx="5" type="body"/>
          </p:nvPr>
        </p:nvSpPr>
        <p:spPr>
          <a:xfrm>
            <a:off x="6096001" y="1520649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6" type="body"/>
          </p:nvPr>
        </p:nvSpPr>
        <p:spPr>
          <a:xfrm>
            <a:off x="6096001" y="1846501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7"/>
          <p:cNvSpPr txBox="1"/>
          <p:nvPr>
            <p:ph idx="7" type="body"/>
          </p:nvPr>
        </p:nvSpPr>
        <p:spPr>
          <a:xfrm>
            <a:off x="4383050" y="2324828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8" type="body"/>
          </p:nvPr>
        </p:nvSpPr>
        <p:spPr>
          <a:xfrm>
            <a:off x="6096001" y="2324802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17"/>
          <p:cNvSpPr txBox="1"/>
          <p:nvPr>
            <p:ph idx="9" type="body"/>
          </p:nvPr>
        </p:nvSpPr>
        <p:spPr>
          <a:xfrm>
            <a:off x="6096001" y="2650654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3" type="body"/>
          </p:nvPr>
        </p:nvSpPr>
        <p:spPr>
          <a:xfrm>
            <a:off x="4383050" y="3135454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14" type="body"/>
          </p:nvPr>
        </p:nvSpPr>
        <p:spPr>
          <a:xfrm>
            <a:off x="6096001" y="3135428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5" type="body"/>
          </p:nvPr>
        </p:nvSpPr>
        <p:spPr>
          <a:xfrm>
            <a:off x="6096001" y="3461280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6" type="body"/>
          </p:nvPr>
        </p:nvSpPr>
        <p:spPr>
          <a:xfrm>
            <a:off x="4383050" y="3946105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17" type="body"/>
          </p:nvPr>
        </p:nvSpPr>
        <p:spPr>
          <a:xfrm>
            <a:off x="6096001" y="3946079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18" type="body"/>
          </p:nvPr>
        </p:nvSpPr>
        <p:spPr>
          <a:xfrm>
            <a:off x="6096001" y="4271931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7"/>
          <p:cNvSpPr txBox="1"/>
          <p:nvPr>
            <p:ph idx="19" type="body"/>
          </p:nvPr>
        </p:nvSpPr>
        <p:spPr>
          <a:xfrm>
            <a:off x="4383050" y="4756743"/>
            <a:ext cx="1712950" cy="3258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17"/>
          <p:cNvSpPr txBox="1"/>
          <p:nvPr>
            <p:ph idx="20" type="body"/>
          </p:nvPr>
        </p:nvSpPr>
        <p:spPr>
          <a:xfrm>
            <a:off x="6096001" y="4756717"/>
            <a:ext cx="5295899" cy="325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None/>
              <a:defRPr b="1" i="0" sz="16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7"/>
          <p:cNvSpPr txBox="1"/>
          <p:nvPr>
            <p:ph idx="21" type="body"/>
          </p:nvPr>
        </p:nvSpPr>
        <p:spPr>
          <a:xfrm>
            <a:off x="6096001" y="5082569"/>
            <a:ext cx="5295899" cy="3761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35714"/>
              </a:lnSpc>
              <a:spcBef>
                <a:spcPts val="6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type="title"/>
          </p:nvPr>
        </p:nvSpPr>
        <p:spPr>
          <a:xfrm>
            <a:off x="800100" y="636586"/>
            <a:ext cx="3411930" cy="111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0" name="Google Shape;15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1652"/>
            <a:ext cx="12192000" cy="20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70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7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Option 1">
  <p:cSld name="Agenda - Option 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800100" y="636586"/>
            <a:ext cx="3411930" cy="11160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8"/>
          <p:cNvSpPr txBox="1"/>
          <p:nvPr>
            <p:ph idx="1" type="body"/>
          </p:nvPr>
        </p:nvSpPr>
        <p:spPr>
          <a:xfrm>
            <a:off x="4403687" y="723007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18"/>
          <p:cNvSpPr txBox="1"/>
          <p:nvPr>
            <p:ph idx="2" type="body"/>
          </p:nvPr>
        </p:nvSpPr>
        <p:spPr>
          <a:xfrm>
            <a:off x="4403687" y="2270224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8" name="Google Shape;158;p18"/>
          <p:cNvSpPr txBox="1"/>
          <p:nvPr>
            <p:ph idx="3" type="body"/>
          </p:nvPr>
        </p:nvSpPr>
        <p:spPr>
          <a:xfrm>
            <a:off x="4403687" y="3798312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4" type="body"/>
          </p:nvPr>
        </p:nvSpPr>
        <p:spPr>
          <a:xfrm>
            <a:off x="7979932" y="711892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idx="5" type="body"/>
          </p:nvPr>
        </p:nvSpPr>
        <p:spPr>
          <a:xfrm>
            <a:off x="7979932" y="2259109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18"/>
          <p:cNvSpPr txBox="1"/>
          <p:nvPr>
            <p:ph idx="6" type="body"/>
          </p:nvPr>
        </p:nvSpPr>
        <p:spPr>
          <a:xfrm>
            <a:off x="7979932" y="3787197"/>
            <a:ext cx="3384626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7" type="body"/>
          </p:nvPr>
        </p:nvSpPr>
        <p:spPr>
          <a:xfrm>
            <a:off x="4403725" y="1136987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18"/>
          <p:cNvSpPr txBox="1"/>
          <p:nvPr>
            <p:ph idx="8" type="body"/>
          </p:nvPr>
        </p:nvSpPr>
        <p:spPr>
          <a:xfrm>
            <a:off x="4403725" y="2686682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18"/>
          <p:cNvSpPr txBox="1"/>
          <p:nvPr>
            <p:ph idx="9" type="body"/>
          </p:nvPr>
        </p:nvSpPr>
        <p:spPr>
          <a:xfrm>
            <a:off x="4403687" y="4218136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18"/>
          <p:cNvSpPr txBox="1"/>
          <p:nvPr>
            <p:ph idx="13" type="body"/>
          </p:nvPr>
        </p:nvSpPr>
        <p:spPr>
          <a:xfrm>
            <a:off x="7979970" y="1115645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4" type="body"/>
          </p:nvPr>
        </p:nvSpPr>
        <p:spPr>
          <a:xfrm>
            <a:off x="7979970" y="2665340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18"/>
          <p:cNvSpPr txBox="1"/>
          <p:nvPr>
            <p:ph idx="15" type="body"/>
          </p:nvPr>
        </p:nvSpPr>
        <p:spPr>
          <a:xfrm>
            <a:off x="7979932" y="4196794"/>
            <a:ext cx="3384588" cy="111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1652"/>
            <a:ext cx="12192000" cy="20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70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Option 3">
  <p:cSld name="Agenda - Option 3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800100" y="636586"/>
            <a:ext cx="10551391" cy="804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0" i="0" sz="3600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9"/>
          <p:cNvSpPr txBox="1"/>
          <p:nvPr>
            <p:ph idx="1" type="subTitle"/>
          </p:nvPr>
        </p:nvSpPr>
        <p:spPr>
          <a:xfrm>
            <a:off x="800100" y="1649637"/>
            <a:ext cx="3367809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marR="0" algn="l">
              <a:lnSpc>
                <a:spcPct val="128571"/>
              </a:lnSpc>
              <a:spcBef>
                <a:spcPts val="1000"/>
              </a:spcBef>
              <a:spcAft>
                <a:spcPts val="0"/>
              </a:spcAft>
              <a:buClr>
                <a:srgbClr val="B83A4B"/>
              </a:buClr>
              <a:buSzPts val="1400"/>
              <a:buFont typeface="Arial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224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175" name="Google Shape;175;p19"/>
          <p:cNvCxnSpPr/>
          <p:nvPr/>
        </p:nvCxnSpPr>
        <p:spPr>
          <a:xfrm>
            <a:off x="800100" y="1975489"/>
            <a:ext cx="10569864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6" name="Google Shape;176;p19"/>
          <p:cNvSpPr txBox="1"/>
          <p:nvPr>
            <p:ph idx="2" type="body"/>
          </p:nvPr>
        </p:nvSpPr>
        <p:spPr>
          <a:xfrm>
            <a:off x="4412095" y="1649638"/>
            <a:ext cx="3367810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7" name="Google Shape;177;p19"/>
          <p:cNvSpPr txBox="1"/>
          <p:nvPr>
            <p:ph idx="3" type="body"/>
          </p:nvPr>
        </p:nvSpPr>
        <p:spPr>
          <a:xfrm>
            <a:off x="8024090" y="1649638"/>
            <a:ext cx="3345873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8" name="Google Shape;178;p19"/>
          <p:cNvSpPr txBox="1"/>
          <p:nvPr>
            <p:ph idx="4" type="body"/>
          </p:nvPr>
        </p:nvSpPr>
        <p:spPr>
          <a:xfrm>
            <a:off x="793614" y="2122841"/>
            <a:ext cx="3367809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5" type="body"/>
          </p:nvPr>
        </p:nvSpPr>
        <p:spPr>
          <a:xfrm>
            <a:off x="793614" y="2684332"/>
            <a:ext cx="3367809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idx="6" type="body"/>
          </p:nvPr>
        </p:nvSpPr>
        <p:spPr>
          <a:xfrm>
            <a:off x="4412095" y="2122841"/>
            <a:ext cx="3367809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19"/>
          <p:cNvSpPr txBox="1"/>
          <p:nvPr>
            <p:ph idx="7" type="body"/>
          </p:nvPr>
        </p:nvSpPr>
        <p:spPr>
          <a:xfrm>
            <a:off x="4412095" y="2684332"/>
            <a:ext cx="3367809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19"/>
          <p:cNvSpPr txBox="1"/>
          <p:nvPr>
            <p:ph idx="8" type="body"/>
          </p:nvPr>
        </p:nvSpPr>
        <p:spPr>
          <a:xfrm>
            <a:off x="8030577" y="2122841"/>
            <a:ext cx="3317674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19"/>
          <p:cNvSpPr txBox="1"/>
          <p:nvPr>
            <p:ph idx="9" type="body"/>
          </p:nvPr>
        </p:nvSpPr>
        <p:spPr>
          <a:xfrm>
            <a:off x="8030577" y="2684332"/>
            <a:ext cx="3317674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19"/>
          <p:cNvSpPr txBox="1"/>
          <p:nvPr>
            <p:ph idx="13" type="body"/>
          </p:nvPr>
        </p:nvSpPr>
        <p:spPr>
          <a:xfrm>
            <a:off x="4412095" y="3822149"/>
            <a:ext cx="3389674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5" name="Google Shape;185;p19"/>
          <p:cNvSpPr txBox="1"/>
          <p:nvPr>
            <p:ph idx="14" type="body"/>
          </p:nvPr>
        </p:nvSpPr>
        <p:spPr>
          <a:xfrm>
            <a:off x="8030577" y="3822149"/>
            <a:ext cx="3317673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6" name="Google Shape;186;p19"/>
          <p:cNvSpPr txBox="1"/>
          <p:nvPr>
            <p:ph idx="15" type="body"/>
          </p:nvPr>
        </p:nvSpPr>
        <p:spPr>
          <a:xfrm>
            <a:off x="793614" y="4295352"/>
            <a:ext cx="3361323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19"/>
          <p:cNvSpPr txBox="1"/>
          <p:nvPr>
            <p:ph idx="16" type="body"/>
          </p:nvPr>
        </p:nvSpPr>
        <p:spPr>
          <a:xfrm>
            <a:off x="793614" y="4856843"/>
            <a:ext cx="3361323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7" type="body"/>
          </p:nvPr>
        </p:nvSpPr>
        <p:spPr>
          <a:xfrm>
            <a:off x="4412095" y="4295352"/>
            <a:ext cx="3389674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8" type="body"/>
          </p:nvPr>
        </p:nvSpPr>
        <p:spPr>
          <a:xfrm>
            <a:off x="4412095" y="4856843"/>
            <a:ext cx="3389674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19"/>
          <p:cNvSpPr txBox="1"/>
          <p:nvPr>
            <p:ph idx="19" type="body"/>
          </p:nvPr>
        </p:nvSpPr>
        <p:spPr>
          <a:xfrm>
            <a:off x="8030577" y="4295352"/>
            <a:ext cx="3317673" cy="561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42857"/>
              </a:lnSpc>
              <a:spcBef>
                <a:spcPts val="500"/>
              </a:spcBef>
              <a:spcAft>
                <a:spcPts val="0"/>
              </a:spcAft>
              <a:buSzPts val="1568"/>
              <a:buNone/>
              <a:defRPr b="0" i="1" sz="1400">
                <a:latin typeface="Montserrat"/>
                <a:ea typeface="Montserrat"/>
                <a:cs typeface="Montserrat"/>
                <a:sym typeface="Montserrat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19"/>
          <p:cNvSpPr txBox="1"/>
          <p:nvPr>
            <p:ph idx="20" type="body"/>
          </p:nvPr>
        </p:nvSpPr>
        <p:spPr>
          <a:xfrm>
            <a:off x="8030577" y="4856843"/>
            <a:ext cx="3317673" cy="7487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0" i="0" sz="1400">
                <a:latin typeface="Lato"/>
                <a:ea typeface="Lato"/>
                <a:cs typeface="Lato"/>
                <a:sym typeface="Lato"/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1" type="body"/>
          </p:nvPr>
        </p:nvSpPr>
        <p:spPr>
          <a:xfrm>
            <a:off x="800100" y="3822149"/>
            <a:ext cx="3361323" cy="325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b="1" i="0" sz="14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93" name="Google Shape;19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1652"/>
            <a:ext cx="12192000" cy="20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70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19"/>
          <p:cNvCxnSpPr/>
          <p:nvPr/>
        </p:nvCxnSpPr>
        <p:spPr>
          <a:xfrm>
            <a:off x="800100" y="4155271"/>
            <a:ext cx="10569864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19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Slide - One Image">
  <p:cSld name="Photo Slide - One Image"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>
            <p:ph idx="2" type="pic"/>
          </p:nvPr>
        </p:nvSpPr>
        <p:spPr>
          <a:xfrm>
            <a:off x="800100" y="1107621"/>
            <a:ext cx="6929879" cy="4950264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7980362" y="1107621"/>
            <a:ext cx="3373438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20"/>
          <p:cNvSpPr txBox="1"/>
          <p:nvPr>
            <p:ph idx="3" type="body"/>
          </p:nvPr>
        </p:nvSpPr>
        <p:spPr>
          <a:xfrm>
            <a:off x="7980363" y="1602470"/>
            <a:ext cx="3373437" cy="4455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0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5" name="Google Shape;205;p20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Slide - 2 Images">
  <p:cSld name="Photo Slide - 2 Images"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>
            <p:ph idx="2" type="pic"/>
          </p:nvPr>
        </p:nvSpPr>
        <p:spPr>
          <a:xfrm>
            <a:off x="800100" y="1107622"/>
            <a:ext cx="5143050" cy="3190048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1"/>
          <p:cNvSpPr/>
          <p:nvPr>
            <p:ph idx="3" type="pic"/>
          </p:nvPr>
        </p:nvSpPr>
        <p:spPr>
          <a:xfrm>
            <a:off x="6229939" y="1107620"/>
            <a:ext cx="5123861" cy="3190049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800100" y="4955452"/>
            <a:ext cx="5143050" cy="1102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4" type="body"/>
          </p:nvPr>
        </p:nvSpPr>
        <p:spPr>
          <a:xfrm>
            <a:off x="800100" y="4482939"/>
            <a:ext cx="514305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5" type="body"/>
          </p:nvPr>
        </p:nvSpPr>
        <p:spPr>
          <a:xfrm>
            <a:off x="6237422" y="4955452"/>
            <a:ext cx="5143050" cy="1102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6" type="body"/>
          </p:nvPr>
        </p:nvSpPr>
        <p:spPr>
          <a:xfrm>
            <a:off x="6237422" y="4482939"/>
            <a:ext cx="514305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3" name="Google Shape;213;p21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1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21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16" name="Google Shape;216;p21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3 Columns">
  <p:cSld name="Content Slide - 3 Columns">
    <p:bg>
      <p:bgPr>
        <a:solidFill>
          <a:schemeClr val="lt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800100" y="1107622"/>
            <a:ext cx="3367810" cy="2814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 sz="1600">
                <a:solidFill>
                  <a:srgbClr val="54494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3pPr>
            <a:lvl4pPr indent="-342392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4pPr>
            <a:lvl5pPr indent="-34239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9" name="Google Shape;219;p22"/>
          <p:cNvSpPr txBox="1"/>
          <p:nvPr>
            <p:ph idx="2" type="body"/>
          </p:nvPr>
        </p:nvSpPr>
        <p:spPr>
          <a:xfrm>
            <a:off x="800099" y="4601585"/>
            <a:ext cx="3367810" cy="1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3" type="body"/>
          </p:nvPr>
        </p:nvSpPr>
        <p:spPr>
          <a:xfrm>
            <a:off x="800099" y="4104388"/>
            <a:ext cx="336781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4" type="body"/>
          </p:nvPr>
        </p:nvSpPr>
        <p:spPr>
          <a:xfrm>
            <a:off x="4412095" y="1107622"/>
            <a:ext cx="3367810" cy="2814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 sz="1600">
                <a:solidFill>
                  <a:srgbClr val="54494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3pPr>
            <a:lvl4pPr indent="-342392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4pPr>
            <a:lvl5pPr indent="-34239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2" name="Google Shape;222;p22"/>
          <p:cNvSpPr txBox="1"/>
          <p:nvPr>
            <p:ph idx="5" type="body"/>
          </p:nvPr>
        </p:nvSpPr>
        <p:spPr>
          <a:xfrm>
            <a:off x="4412094" y="4601585"/>
            <a:ext cx="3367810" cy="1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6" type="body"/>
          </p:nvPr>
        </p:nvSpPr>
        <p:spPr>
          <a:xfrm>
            <a:off x="4412094" y="4104388"/>
            <a:ext cx="336781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7" type="body"/>
          </p:nvPr>
        </p:nvSpPr>
        <p:spPr>
          <a:xfrm>
            <a:off x="8003707" y="1107622"/>
            <a:ext cx="3367810" cy="28146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 sz="1600">
                <a:solidFill>
                  <a:srgbClr val="544948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3pPr>
            <a:lvl4pPr indent="-342392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4pPr>
            <a:lvl5pPr indent="-342392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 sz="1600">
                <a:latin typeface="Lato"/>
                <a:ea typeface="Lato"/>
                <a:cs typeface="Lato"/>
                <a:sym typeface="Lato"/>
              </a:defRPr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5" name="Google Shape;225;p22"/>
          <p:cNvSpPr txBox="1"/>
          <p:nvPr>
            <p:ph idx="8" type="body"/>
          </p:nvPr>
        </p:nvSpPr>
        <p:spPr>
          <a:xfrm>
            <a:off x="8003706" y="4601585"/>
            <a:ext cx="3367810" cy="1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Lato"/>
              <a:buNone/>
              <a:defRPr sz="14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22"/>
          <p:cNvSpPr txBox="1"/>
          <p:nvPr>
            <p:ph idx="9" type="body"/>
          </p:nvPr>
        </p:nvSpPr>
        <p:spPr>
          <a:xfrm>
            <a:off x="8003706" y="4104388"/>
            <a:ext cx="3367810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2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2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" name="Google Shape;229;p22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0" name="Google Shape;230;p22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Slide - 2 Column">
  <p:cSld name="Text Slide - 2 Column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idx="1" type="body"/>
          </p:nvPr>
        </p:nvSpPr>
        <p:spPr>
          <a:xfrm>
            <a:off x="800100" y="1602938"/>
            <a:ext cx="5157788" cy="4454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23"/>
          <p:cNvSpPr txBox="1"/>
          <p:nvPr>
            <p:ph idx="2" type="body"/>
          </p:nvPr>
        </p:nvSpPr>
        <p:spPr>
          <a:xfrm>
            <a:off x="6229939" y="1602938"/>
            <a:ext cx="5157788" cy="445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Lato"/>
              <a:buNone/>
              <a:defRPr>
                <a:solidFill>
                  <a:srgbClr val="3F3F3F"/>
                </a:solidFill>
              </a:defRPr>
            </a:lvl1pPr>
            <a:lvl2pPr indent="-342392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92"/>
              <a:buChar char="•"/>
              <a:defRPr>
                <a:solidFill>
                  <a:srgbClr val="3F3F3F"/>
                </a:solidFill>
              </a:defRPr>
            </a:lvl2pPr>
            <a:lvl3pPr indent="-34036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Char char="•"/>
              <a:defRPr>
                <a:solidFill>
                  <a:srgbClr val="3F3F3F"/>
                </a:solidFill>
              </a:defRPr>
            </a:lvl3pPr>
            <a:lvl4pPr indent="-328168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4pPr>
            <a:lvl5pPr indent="-328168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68"/>
              <a:buChar char="•"/>
              <a:defRPr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23"/>
          <p:cNvSpPr txBox="1"/>
          <p:nvPr>
            <p:ph idx="3" type="body"/>
          </p:nvPr>
        </p:nvSpPr>
        <p:spPr>
          <a:xfrm>
            <a:off x="794904" y="1107621"/>
            <a:ext cx="5164831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23"/>
          <p:cNvSpPr txBox="1"/>
          <p:nvPr>
            <p:ph idx="4" type="body"/>
          </p:nvPr>
        </p:nvSpPr>
        <p:spPr>
          <a:xfrm>
            <a:off x="6234170" y="1107621"/>
            <a:ext cx="5162925" cy="398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Lato"/>
              <a:buNone/>
              <a:defRPr sz="2000">
                <a:solidFill>
                  <a:srgbClr val="B83A4B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7084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40"/>
              <a:buChar char="•"/>
              <a:defRPr sz="2000">
                <a:latin typeface="Lato"/>
                <a:ea typeface="Lato"/>
                <a:cs typeface="Lato"/>
                <a:sym typeface="Lato"/>
              </a:defRPr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type="title"/>
          </p:nvPr>
        </p:nvSpPr>
        <p:spPr>
          <a:xfrm>
            <a:off x="800099" y="266701"/>
            <a:ext cx="10596995" cy="6321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7" name="Google Shape;237;p23"/>
          <p:cNvCxnSpPr/>
          <p:nvPr/>
        </p:nvCxnSpPr>
        <p:spPr>
          <a:xfrm>
            <a:off x="800100" y="927135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23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3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Image" showMasterSp="0">
  <p:cSld name="Section Break - Image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4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Red" showMasterSp="0">
  <p:cSld name="Section Break - Red">
    <p:bg>
      <p:bgPr>
        <a:gradFill>
          <a:gsLst>
            <a:gs pos="0">
              <a:srgbClr val="E04F39"/>
            </a:gs>
            <a:gs pos="15000">
              <a:srgbClr val="E04F39"/>
            </a:gs>
            <a:gs pos="50000">
              <a:srgbClr val="AF2D24"/>
            </a:gs>
            <a:gs pos="100000">
              <a:srgbClr val="8C1515"/>
            </a:gs>
          </a:gsLst>
          <a:lin ang="8100000" scaled="0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0" name="Google Shape;250;p25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2" name="Google Shape;25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Blue" showMasterSp="0">
  <p:cSld name="Section Break - Blue">
    <p:bg>
      <p:bgPr>
        <a:gradFill>
          <a:gsLst>
            <a:gs pos="0">
              <a:srgbClr val="1AA4BC"/>
            </a:gs>
            <a:gs pos="50000">
              <a:srgbClr val="006983"/>
            </a:gs>
            <a:gs pos="100000">
              <a:srgbClr val="013948"/>
            </a:gs>
          </a:gsLst>
          <a:lin ang="8100000" scaled="0"/>
        </a:gra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7" name="Google Shape;257;p26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p26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Purple" showMasterSp="0">
  <p:cSld name="Section Break - Purple">
    <p:bg>
      <p:bgPr>
        <a:gradFill>
          <a:gsLst>
            <a:gs pos="0">
              <a:srgbClr val="B6B1A9"/>
            </a:gs>
            <a:gs pos="50000">
              <a:srgbClr val="877F7A"/>
            </a:gs>
            <a:gs pos="100000">
              <a:srgbClr val="544948"/>
            </a:gs>
          </a:gsLst>
          <a:lin ang="8100000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4" name="Google Shape;264;p27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5" name="Google Shape;265;p27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Orange" showMasterSp="0">
  <p:cSld name="Section Break - Orange">
    <p:bg>
      <p:bgPr>
        <a:gradFill>
          <a:gsLst>
            <a:gs pos="0">
              <a:srgbClr val="FEDD5C"/>
            </a:gs>
            <a:gs pos="38000">
              <a:srgbClr val="F4B12F"/>
            </a:gs>
            <a:gs pos="78000">
              <a:srgbClr val="E98300"/>
            </a:gs>
            <a:gs pos="100000">
              <a:srgbClr val="E98300"/>
            </a:gs>
          </a:gsLst>
          <a:lin ang="8100000" scaled="0"/>
        </a:gra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1" name="Google Shape;271;p28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2" name="Google Shape;272;p28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73" name="Google Shape;27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8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Green" showMasterSp="0">
  <p:cSld name="Section Break - Green">
    <p:bg>
      <p:bgPr>
        <a:gradFill>
          <a:gsLst>
            <a:gs pos="0">
              <a:srgbClr val="8AC751"/>
            </a:gs>
            <a:gs pos="50000">
              <a:srgbClr val="59B06D"/>
            </a:gs>
            <a:gs pos="100000">
              <a:srgbClr val="279989"/>
            </a:gs>
          </a:gsLst>
          <a:lin ang="8100000" scaled="0"/>
        </a:gra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78" name="Google Shape;278;p29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" name="Google Shape;279;p29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chemeClr val="lt1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80" name="Google Shape;28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9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- Printable">
  <p:cSld name="Section Break - Printab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title"/>
          </p:nvPr>
        </p:nvSpPr>
        <p:spPr>
          <a:xfrm>
            <a:off x="800100" y="2615992"/>
            <a:ext cx="10553700" cy="121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>
                <a:solidFill>
                  <a:srgbClr val="8C151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84" name="Google Shape;284;p30"/>
          <p:cNvCxnSpPr/>
          <p:nvPr/>
        </p:nvCxnSpPr>
        <p:spPr>
          <a:xfrm>
            <a:off x="800100" y="2522007"/>
            <a:ext cx="10553700" cy="0"/>
          </a:xfrm>
          <a:prstGeom prst="straightConnector1">
            <a:avLst/>
          </a:prstGeom>
          <a:noFill/>
          <a:ln cap="flat" cmpd="sng" w="9525">
            <a:solidFill>
              <a:srgbClr val="8C151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5" name="Google Shape;285;p30"/>
          <p:cNvSpPr txBox="1"/>
          <p:nvPr>
            <p:ph idx="1" type="body"/>
          </p:nvPr>
        </p:nvSpPr>
        <p:spPr>
          <a:xfrm>
            <a:off x="800100" y="1273091"/>
            <a:ext cx="1460711" cy="1243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6000"/>
              <a:buFont typeface="Lato"/>
              <a:buNone/>
              <a:defRPr sz="6000">
                <a:solidFill>
                  <a:srgbClr val="3F3F3F"/>
                </a:solidFill>
              </a:defRPr>
            </a:lvl1pPr>
            <a:lvl2pPr indent="-356616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•"/>
              <a:defRPr/>
            </a:lvl3pPr>
            <a:lvl4pPr indent="-356616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4pPr>
            <a:lvl5pPr indent="-356616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16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6" name="Google Shape;286;p30"/>
          <p:cNvSpPr/>
          <p:nvPr/>
        </p:nvSpPr>
        <p:spPr>
          <a:xfrm>
            <a:off x="0" y="-13960"/>
            <a:ext cx="12192000" cy="211532"/>
          </a:xfrm>
          <a:prstGeom prst="rect">
            <a:avLst/>
          </a:prstGeom>
          <a:solidFill>
            <a:srgbClr val="D4D1D1">
              <a:alpha val="2470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0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  <a:defRPr b="0" i="0" sz="4800" u="none" cap="none" strike="noStrike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00100" y="1998482"/>
            <a:ext cx="10553700" cy="399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ato"/>
              <a:buNone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92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60"/>
              <a:buFont typeface="Arial"/>
              <a:buChar char="•"/>
              <a:defRPr b="0" i="0" sz="16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8168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0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8168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1" sz="14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800100" y="636586"/>
            <a:ext cx="10553700" cy="10745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  <a:defRPr b="0" i="0" sz="3600" u="none" cap="none" strike="noStrike">
                <a:solidFill>
                  <a:srgbClr val="8C151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800100" y="1998482"/>
            <a:ext cx="10553700" cy="39969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83A4B"/>
              </a:buClr>
              <a:buSzPts val="1600"/>
              <a:buFont typeface="Lato"/>
              <a:buNone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42392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92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4036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76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8168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8168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B83A4B"/>
              </a:buClr>
              <a:buSzPts val="1568"/>
              <a:buFont typeface="Arial"/>
              <a:buChar char="•"/>
              <a:defRPr b="0" i="1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1634490" y="6282824"/>
            <a:ext cx="58521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8610600" y="628282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2" name="Google Shape;122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88670" y="6361842"/>
            <a:ext cx="643152" cy="21251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"/>
          <p:cNvSpPr txBox="1"/>
          <p:nvPr>
            <p:ph idx="1" type="body"/>
          </p:nvPr>
        </p:nvSpPr>
        <p:spPr>
          <a:xfrm>
            <a:off x="800100" y="504825"/>
            <a:ext cx="10481400" cy="25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</a:pPr>
            <a:r>
              <a:rPr lang="en-US" sz="4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 Single ParT CVAE for HAXAD:</a:t>
            </a:r>
            <a:endParaRPr sz="41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4800"/>
              <a:buFont typeface="Lato"/>
              <a:buNone/>
            </a:pPr>
            <a:r>
              <a:rPr lang="en-US" sz="41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Embedding and Generation</a:t>
            </a:r>
            <a:endParaRPr sz="5300"/>
          </a:p>
        </p:txBody>
      </p:sp>
      <p:sp>
        <p:nvSpPr>
          <p:cNvPr id="293" name="Google Shape;293;p31"/>
          <p:cNvSpPr txBox="1"/>
          <p:nvPr>
            <p:ph idx="3" type="body"/>
          </p:nvPr>
        </p:nvSpPr>
        <p:spPr>
          <a:xfrm>
            <a:off x="800100" y="3630579"/>
            <a:ext cx="65532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</a:pPr>
            <a:r>
              <a:rPr lang="en-US"/>
              <a:t>Liangyu Wu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</a:pPr>
            <a:r>
              <a:rPr lang="en-US">
                <a:solidFill>
                  <a:schemeClr val="dk1"/>
                </a:solidFill>
              </a:rPr>
              <a:t>Stanford University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</a:pPr>
            <a:r>
              <a:rPr lang="en-US">
                <a:solidFill>
                  <a:schemeClr val="dk1"/>
                </a:solidFill>
              </a:rPr>
              <a:t>SLAC National Accelerator Laboratory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294" name="Google Shape;294;p31"/>
          <p:cNvSpPr txBox="1"/>
          <p:nvPr>
            <p:ph idx="4" type="body"/>
          </p:nvPr>
        </p:nvSpPr>
        <p:spPr>
          <a:xfrm>
            <a:off x="800100" y="4488227"/>
            <a:ext cx="6553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Lato"/>
              <a:buNone/>
            </a:pPr>
            <a:r>
              <a:rPr b="1" lang="en-US" sz="1600"/>
              <a:t>19 Oct 2026</a:t>
            </a:r>
            <a:endParaRPr b="1" sz="1600"/>
          </a:p>
        </p:txBody>
      </p:sp>
      <p:sp>
        <p:nvSpPr>
          <p:cNvPr id="295" name="TextBox 294"/>
          <p:cNvSpPr txBox="1"/>
          <p:nvPr/>
        </p:nvSpPr>
        <p:spPr>
          <a:xfrm>
            <a:off x="804672" y="3154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Status: reconstruction, z–mγγ decorrelation, multi-seed baseline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"/>
          <p:cNvSpPr txBox="1"/>
          <p:nvPr>
            <p:ph type="title"/>
          </p:nvPr>
        </p:nvSpPr>
        <p:spPr>
          <a:xfrm>
            <a:off x="800100" y="2615992"/>
            <a:ext cx="10553700" cy="12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60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323" name="Google Shape;323;p34"/>
          <p:cNvSpPr txBox="1"/>
          <p:nvPr>
            <p:ph idx="1" type="body"/>
          </p:nvPr>
        </p:nvSpPr>
        <p:spPr>
          <a:xfrm>
            <a:off x="800100" y="1273091"/>
            <a:ext cx="39807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6000"/>
              <a:buFont typeface="Lato"/>
              <a:buNone/>
            </a:pPr>
            <a:r>
              <a:rPr lang="en-US"/>
              <a:t>Back ups</a:t>
            </a:r>
            <a:endParaRPr/>
          </a:p>
        </p:txBody>
      </p:sp>
      <p:sp>
        <p:nvSpPr>
          <p:cNvPr id="324" name="Google Shape;324;p34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Goal: One Latent Space for Embedding and Generation</a:t>
            </a:r>
            <a:endParaRPr/>
          </a:p>
        </p:txBody>
      </p:sp>
      <p:sp>
        <p:nvSpPr>
          <p:cNvPr id="302" name="TextBox 301"/>
          <p:cNvSpPr txBox="1"/>
          <p:nvPr/>
        </p:nvSpPr>
        <p:spPr>
          <a:xfrm>
            <a:off x="548640" y="1051560"/>
            <a:ext cx="640080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Today</a:t>
            </a:r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HAXAD uses a contrastive embedding model and a separate generative model, conditioned on mγγ, to build the signal-region (SR) background template from the sidebands (SB)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This work</a:t>
            </a:r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a single conditional VAE with latent [z (16 free dims), mγγ (one fixed dim)]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encoder: event → z, plus one output that reproduces mγγ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decoder: (z, mγγ) → event, so events can be generated at a specified mγγ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Downstream use</a:t>
            </a:r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the anomaly classifier runs on z; the SR background template is the SB z distribution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3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Requirements</a:t>
            </a:r>
            <a:r>
              <a:rPr sz="13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, in order of priority: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z independent of mγγ: a classifier on z cannot tell SR from SB (closure AUC → 0.5)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z keeps the event information (reconstruction R²), hence the signal information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only mγγ is fixed in the latent; nothing else has to be specified at generation</a:t>
            </a:r>
          </a:p>
        </p:txBody>
      </p:sp>
      <p:sp>
        <p:nvSpPr>
          <p:cNvPr id="303" name="Rounded Rectangle 302"/>
          <p:cNvSpPr/>
          <p:nvPr/>
        </p:nvSpPr>
        <p:spPr>
          <a:xfrm>
            <a:off x="7406640" y="1280160"/>
            <a:ext cx="420624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SB events (105–120, 130–145 GeV)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train the CVAE; z_SB</a:t>
            </a:r>
          </a:p>
        </p:txBody>
      </p:sp>
      <p:sp>
        <p:nvSpPr>
          <p:cNvPr id="304" name="Down Arrow 303"/>
          <p:cNvSpPr/>
          <p:nvPr/>
        </p:nvSpPr>
        <p:spPr>
          <a:xfrm>
            <a:off x="9372600" y="2130552"/>
            <a:ext cx="274320" cy="292608"/>
          </a:xfrm>
          <a:prstGeom prst="downArrow">
            <a:avLst/>
          </a:prstGeom>
          <a:solidFill>
            <a:srgbClr val="B8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ounded Rectangle 304"/>
          <p:cNvSpPr/>
          <p:nvPr/>
        </p:nvSpPr>
        <p:spPr>
          <a:xfrm>
            <a:off x="7406640" y="2514600"/>
            <a:ext cx="420624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SR template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z_SB; valid in the SR only if z is independent of mγγ</a:t>
            </a:r>
          </a:p>
        </p:txBody>
      </p:sp>
      <p:sp>
        <p:nvSpPr>
          <p:cNvPr id="306" name="Down Arrow 305"/>
          <p:cNvSpPr/>
          <p:nvPr/>
        </p:nvSpPr>
        <p:spPr>
          <a:xfrm>
            <a:off x="9372600" y="3364992"/>
            <a:ext cx="274320" cy="292608"/>
          </a:xfrm>
          <a:prstGeom prst="downArrow">
            <a:avLst/>
          </a:prstGeom>
          <a:solidFill>
            <a:srgbClr val="B8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ounded Rectangle 306"/>
          <p:cNvSpPr/>
          <p:nvPr/>
        </p:nvSpPr>
        <p:spPr>
          <a:xfrm>
            <a:off x="7406640" y="3749039"/>
            <a:ext cx="4206240" cy="77724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Weakly supervised classifier on z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SR data vs template → anomaly score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7406640" y="4846320"/>
            <a:ext cx="4206240" cy="685800"/>
          </a:xfrm>
          <a:prstGeom prst="rect">
            <a:avLst/>
          </a:prstGeom>
          <a:solidFill>
            <a:srgbClr val="FFFF00"/>
          </a:solidFill>
          <a:ln w="9525">
            <a:solidFill>
              <a:srgbClr val="C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0" rIns="64000" tIns="64000" bIns="64000"/>
          <a:lstStyle/>
          <a:p>
            <a:pPr algn="ctr"/>
            <a:r>
              <a:rPr sz="1000" b="0" i="0">
                <a:solidFill>
                  <a:srgbClr val="000000"/>
                </a:solidFill>
                <a:latin typeface="Comfortaa"/>
                <a:ea typeface="Comfortaa"/>
                <a:cs typeface="Comfortaa"/>
              </a:rPr>
              <a:t>Closure test: a BDT on z separates SR from SB background. Any AUC above 0.5 is a fake excess in the SR.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Model and Data</a:t>
            </a:r>
            <a:endParaRPr/>
          </a:p>
        </p:txBody>
      </p:sp>
      <p:sp>
        <p:nvSpPr>
          <p:cNvPr id="302" name="Rounded Rectangle 301"/>
          <p:cNvSpPr/>
          <p:nvPr/>
        </p:nvSpPr>
        <p:spPr>
          <a:xfrm>
            <a:off x="548640" y="1143000"/>
            <a:ext cx="2468880" cy="1143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Inputs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11 object slots + 2 photon slots,
pair interactions, 7 high-level</a:t>
            </a:r>
          </a:p>
        </p:txBody>
      </p:sp>
      <p:sp>
        <p:nvSpPr>
          <p:cNvPr id="303" name="Right Arrow 302"/>
          <p:cNvSpPr/>
          <p:nvPr/>
        </p:nvSpPr>
        <p:spPr>
          <a:xfrm>
            <a:off x="3090672" y="1581912"/>
            <a:ext cx="365760" cy="256032"/>
          </a:xfrm>
          <a:prstGeom prst="rightArrow">
            <a:avLst/>
          </a:prstGeom>
          <a:solidFill>
            <a:srgbClr val="B8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3520440" y="1143000"/>
            <a:ext cx="2468880" cy="1143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ParT encoder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DPTModel (contrastive encoder)
4 self- + 2 class-attention blocks</a:t>
            </a:r>
          </a:p>
        </p:txBody>
      </p:sp>
      <p:sp>
        <p:nvSpPr>
          <p:cNvPr id="305" name="Right Arrow 304"/>
          <p:cNvSpPr/>
          <p:nvPr/>
        </p:nvSpPr>
        <p:spPr>
          <a:xfrm>
            <a:off x="6062472" y="1581912"/>
            <a:ext cx="365760" cy="256032"/>
          </a:xfrm>
          <a:prstGeom prst="rightArrow">
            <a:avLst/>
          </a:prstGeom>
          <a:solidFill>
            <a:srgbClr val="B8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6492240" y="1143000"/>
            <a:ext cx="2194560" cy="1143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Latent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z: μ, σ (16 dims)
m̂γγ (regressed, 1 dim)</a:t>
            </a:r>
          </a:p>
        </p:txBody>
      </p:sp>
      <p:sp>
        <p:nvSpPr>
          <p:cNvPr id="307" name="Right Arrow 306"/>
          <p:cNvSpPr/>
          <p:nvPr/>
        </p:nvSpPr>
        <p:spPr>
          <a:xfrm>
            <a:off x="8759952" y="1581912"/>
            <a:ext cx="365760" cy="256032"/>
          </a:xfrm>
          <a:prstGeom prst="rightArrow">
            <a:avLst/>
          </a:prstGeom>
          <a:solidFill>
            <a:srgbClr val="B8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ounded Rectangle 307"/>
          <p:cNvSpPr/>
          <p:nvPr/>
        </p:nvSpPr>
        <p:spPr>
          <a:xfrm>
            <a:off x="9189720" y="1143000"/>
            <a:ext cx="2514600" cy="1143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Slot-query decoder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[z, MLP(mγγ)] → 13 slots +
high level (84 targets)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6492240" y="2606040"/>
            <a:ext cx="21945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3A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000" rIns="50000"/>
          <a:lstStyle/>
          <a:p>
            <a:pPr algn="ctr"/>
            <a:r>
              <a:rPr sz="1200" b="1" i="0">
                <a:solidFill>
                  <a:srgbClr val="8C1515"/>
                </a:solidFill>
                <a:latin typeface="Lato"/>
                <a:ea typeface="Lato"/>
                <a:cs typeface="Lato"/>
              </a:rPr>
              <a:t>mγγ adversary</a:t>
            </a:r>
          </a:p>
          <a:p>
            <a:pPr algn="ctr"/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MLP on μ → 8 SB mγγ bins</a:t>
            </a:r>
          </a:p>
        </p:txBody>
      </p:sp>
      <p:sp>
        <p:nvSpPr>
          <p:cNvPr id="310" name="Up Arrow 309"/>
          <p:cNvSpPr/>
          <p:nvPr/>
        </p:nvSpPr>
        <p:spPr>
          <a:xfrm>
            <a:off x="7452360" y="2331720"/>
            <a:ext cx="274320" cy="256032"/>
          </a:xfrm>
          <a:prstGeom prst="upArrow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48640" y="3657600"/>
            <a:ext cx="5760720" cy="246888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Data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HAXAD pseudo-data from the demonstrator pipeline (data pool, unweighted, contrastive-encoder normalization); SB = 105–120 ∪ 130–145 GeV, SR = 120–130 GeV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Split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SB k-fold (5, seed): fold 0 test, fold 1 validation, rest training (958k); the SR is never trained on; SM Higgs removed in all tests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Loss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masked reconstruction (MSE, BCE for existence and b-tag) + 0.01·KL + 10·(m̂ − mγγ)² + λ·adversary term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6492240" y="3657600"/>
            <a:ext cx="5303520" cy="246888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Photon slots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pT, η, φ of both photons; the photon-pair mass in the interaction features equals mγγ, so the encoder reproduces it: m̂ R² 0.9995, rms 0.27 GeV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Adversary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own Adam optimizer, 20 inner steps per batch on detached μ; the encoder is penalized by KL(bin prior ‖ adversary output), switched on after 5 epochs, ramped over 10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Training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400 epochs, AdamW, batch 16384, bf16; about 3.3 h on one A100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Study Plan and Where We Are</a:t>
            </a:r>
            <a:endParaRPr/>
          </a:p>
        </p:txBody>
      </p:sp>
      <p:sp>
        <p:nvSpPr>
          <p:cNvPr id="302" name="Pentagon 301"/>
          <p:cNvSpPr/>
          <p:nvPr/>
        </p:nvSpPr>
        <p:spPr>
          <a:xfrm>
            <a:off x="548640" y="1051560"/>
            <a:ext cx="1805939" cy="685800"/>
          </a:xfrm>
          <a:prstGeom prst="homePlate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 Reconstruction</a:t>
            </a:r>
          </a:p>
        </p:txBody>
      </p:sp>
      <p:sp>
        <p:nvSpPr>
          <p:cNvPr id="303" name="Chevron 302"/>
          <p:cNvSpPr/>
          <p:nvPr/>
        </p:nvSpPr>
        <p:spPr>
          <a:xfrm>
            <a:off x="2400300" y="1051560"/>
            <a:ext cx="1805939" cy="685800"/>
          </a:xfrm>
          <a:prstGeom prst="chevron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1b Fixed mγγ dim</a:t>
            </a:r>
          </a:p>
        </p:txBody>
      </p:sp>
      <p:sp>
        <p:nvSpPr>
          <p:cNvPr id="304" name="Chevron 303"/>
          <p:cNvSpPr/>
          <p:nvPr/>
        </p:nvSpPr>
        <p:spPr>
          <a:xfrm>
            <a:off x="4251959" y="1051560"/>
            <a:ext cx="1805939" cy="685800"/>
          </a:xfrm>
          <a:prstGeom prst="chevron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1c Decorrelate z</a:t>
            </a:r>
          </a:p>
        </p:txBody>
      </p:sp>
      <p:sp>
        <p:nvSpPr>
          <p:cNvPr id="305" name="Chevron 304"/>
          <p:cNvSpPr/>
          <p:nvPr/>
        </p:nvSpPr>
        <p:spPr>
          <a:xfrm>
            <a:off x="6103619" y="1051560"/>
            <a:ext cx="1805939" cy="685800"/>
          </a:xfrm>
          <a:prstGeom prst="chevron">
            <a:avLst/>
          </a:prstGeom>
          <a:solidFill>
            <a:srgbClr val="8C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ato"/>
                <a:ea typeface="Lato"/>
                <a:cs typeface="Lato"/>
              </a:rPr>
              <a:t>Multi-seed baseline</a:t>
            </a:r>
          </a:p>
        </p:txBody>
      </p:sp>
      <p:sp>
        <p:nvSpPr>
          <p:cNvPr id="306" name="Chevron 305"/>
          <p:cNvSpPr/>
          <p:nvPr/>
        </p:nvSpPr>
        <p:spPr>
          <a:xfrm>
            <a:off x="7955279" y="1051560"/>
            <a:ext cx="1805939" cy="6858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 b="1" i="0">
                <a:solidFill>
                  <a:srgbClr val="3F3F3F"/>
                </a:solidFill>
                <a:latin typeface="Lato"/>
                <a:ea typeface="Lato"/>
                <a:cs typeface="Lato"/>
              </a:rPr>
              <a:t>2 Weak-supervision test</a:t>
            </a:r>
          </a:p>
        </p:txBody>
      </p:sp>
      <p:sp>
        <p:nvSpPr>
          <p:cNvPr id="307" name="Chevron 306"/>
          <p:cNvSpPr/>
          <p:nvPr/>
        </p:nvSpPr>
        <p:spPr>
          <a:xfrm>
            <a:off x="9806940" y="1051560"/>
            <a:ext cx="1805939" cy="6858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 tIns="0" bIns="0"/>
          <a:lstStyle/>
          <a:p>
            <a:pPr algn="ctr"/>
            <a:r>
              <a:rPr sz="1000" b="1" i="0">
                <a:solidFill>
                  <a:srgbClr val="3F3F3F"/>
                </a:solidFill>
                <a:latin typeface="Lato"/>
                <a:ea typeface="Lato"/>
                <a:cs typeface="Lato"/>
              </a:rPr>
              <a:t>3 Generation</a:t>
            </a:r>
          </a:p>
        </p:txBody>
      </p:sp>
      <p:graphicFrame>
        <p:nvGraphicFramePr>
          <p:cNvPr id="308" name="Table 307"/>
          <p:cNvGraphicFramePr>
            <a:graphicFrameLocks noGrp="1"/>
          </p:cNvGraphicFramePr>
          <p:nvPr/>
        </p:nvGraphicFramePr>
        <p:xfrm>
          <a:off x="548640" y="2011680"/>
          <a:ext cx="11064240" cy="300837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1680"/>
                <a:gridCol w="4206240"/>
                <a:gridCol w="484632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Step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Question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Answer so far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  Reconstruction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Can a ParT CVAE reconstruct the events?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yes: core R² 0.965 ± 0.004 (3 seeds); but z carries mγγ and the decoder ignores mγγ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1b  Fixed mγγ dim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Can one latent dim be mγγ itself?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yes, with photon slots: m̂ R² 0.9995; the decoded photon pair follows the given mγγ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1c  Decorrelate z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Can the rest of z be made mγγ-independent?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yes, with a strong adversary; GRL, DisCo and larger β do not work; price: R² 0.97 → 0.90–0.93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Baseline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Which configuration, and is the gain real?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0.05: closure SR/SB 0.518 ± 0.002 over 7 seeds vs 0.535 ± 0.004 (step 1)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2  Weak supervision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Does z find an injected signal in the SR?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next (to discuss)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3  Generation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Sample events at a given mγγ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later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9" name="TextBox 308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Core R²: median R² over the jet1–4 and fatjet1 targets on the SB test fold. Closure AUCs: HistGradientBoosting on μ, 3-fold, event-weighted; SB-low vs SB-high on the SB test fold, SR vs SB test.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Step 1: Good Reconstruction, but z Carries mγγ</a:t>
            </a:r>
            <a:endParaRPr/>
          </a:p>
        </p:txBody>
      </p:sp>
      <p:pic>
        <p:nvPicPr>
          <p:cNvPr id="302" name="Picture 301" descr="mu_vs_my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949440" cy="2463892"/>
          </a:xfrm>
          <a:prstGeom prst="rect">
            <a:avLst/>
          </a:prstGeom>
        </p:spPr>
      </p:pic>
      <p:sp>
        <p:nvSpPr>
          <p:cNvPr id="303" name="TextBox 302"/>
          <p:cNvSpPr txBox="1"/>
          <p:nvPr/>
        </p:nvSpPr>
        <p:spPr>
          <a:xfrm>
            <a:off x="7589520" y="1051560"/>
            <a:ext cx="420624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Reconstruction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core R² SB 0.965 ± 0.004, SR 0.966 ± 0.005; b-tag AUC 1.00; MET and high-level ≥ 0.99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z knows mγγ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closure AUC SB-low vs SB-high 0.648 ± 0.010, SR vs SB 0.535 ± 0.004 (raw inputs: 0.669 / 0.543)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left: one dim moves by about 0.55 σ across the SB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decoder ignores mγγ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core R² 0.967 with the true mγγ, 0.966 with mγγ shuffled between events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everything mγγ-related travels through z, so SR recon = SB recon proved nothing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Cause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the encoder never saw the photons; the mγγ dependence it learns comes from correlated kinematics (diphoton pT, jets)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548640" y="36576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Mean of μ_k in mγγ bins (SB test + SR, SM Higgs removed), in units of the dim's standard deviation; right: the recommended baseline, same scale.</a:t>
            </a:r>
          </a:p>
        </p:txBody>
      </p:sp>
      <p:graphicFrame>
        <p:nvGraphicFramePr>
          <p:cNvPr id="305" name="Table 304"/>
          <p:cNvGraphicFramePr>
            <a:graphicFrameLocks noGrp="1"/>
          </p:cNvGraphicFramePr>
          <p:nvPr/>
        </p:nvGraphicFramePr>
        <p:xfrm>
          <a:off x="548640" y="4160520"/>
          <a:ext cx="6858000" cy="1856232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566160"/>
                <a:gridCol w="1097280"/>
                <a:gridCol w="1097280"/>
                <a:gridCol w="1097280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Core R² (step 1)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seed 0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seed 1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seed 2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SB test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SR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0.970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signal XHH_500 (never trained on)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0.773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0.766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0.732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signal HVT_VcXjjHyy_2000_300 (never trained on)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0.762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0.763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0.709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signal WN_HyyN_300 (never trained on)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0.792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0.812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0.795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signal TT_tZNtHyyN_1000_205_60 (never trained on)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0.275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0.451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0.366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Steps 1b–1c: Fix mγγ in the Latent, Remove It from z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97280"/>
          <a:ext cx="6949438" cy="36576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790603"/>
                <a:gridCol w="1052945"/>
                <a:gridCol w="1052945"/>
                <a:gridCol w="105294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Configuration (150 epochs, seed 0)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lo/hi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SR/SB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core R²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no photons, no adversary (step-1 recipe)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0.641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+ photon slots + m̂ head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0.864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0.657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0.871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  + β = 0.1 (stronger KL)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0.898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0.807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  + adversary λ = 0.3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0.701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  + adversary λ = 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0.317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  + adversary λ = 10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0.573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0.026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no photons + adversary λ = 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0.627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548640" y="48463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Adversary: 20 inner steps, hidden 256. 150-epoch R² is lower than at 400 epochs for every configuration.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7772400" y="1051560"/>
            <a:ext cx="402336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Photon slots make mγγ explicit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the encoder reproduces it, but without a counter-force it also spreads it into z (AUC 0.64 → 0.86)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A larger β does not remove it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the KL term compresses z but keeps mγγ (AUC 0.90)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adversary needs to be strong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with one-step gradient reversal the encoder dodges it (adversary at chance while a BDT still separates); own optimizer + 20 inner steps work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λ sets the trade-off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λ ≥ 1 reaches the closure floor but destroys the reconstruction; small λ over 400 epochs is the useful regime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Without photons the decoder ignores mγγ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 even with the adversary, so this branch was dropped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Multi-Seed Baseline: λ = 0.05 Gives Stable Closure</a:t>
            </a:r>
            <a:endParaRPr/>
          </a:p>
        </p:txBody>
      </p:sp>
      <p:pic>
        <p:nvPicPr>
          <p:cNvPr id="302" name="Picture 301" descr="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7315200" cy="2859578"/>
          </a:xfrm>
          <a:prstGeom prst="rect">
            <a:avLst/>
          </a:prstGeom>
        </p:spPr>
      </p:pic>
      <p:graphicFrame>
        <p:nvGraphicFramePr>
          <p:cNvPr id="303" name="Table 302"/>
          <p:cNvGraphicFramePr>
            <a:graphicFrameLocks noGrp="1"/>
          </p:cNvGraphicFramePr>
          <p:nvPr/>
        </p:nvGraphicFramePr>
        <p:xfrm>
          <a:off x="548640" y="4023360"/>
          <a:ext cx="7223758" cy="124358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538077"/>
                <a:gridCol w="585710"/>
                <a:gridCol w="1366657"/>
                <a:gridCol w="1366657"/>
                <a:gridCol w="1366657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Configuration (400 epochs)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seeds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SR/SB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lo/hi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core R² 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 1 (no photons, no adversary)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0.535 ± 0.004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0.648 ± 0.010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0.965 ± 0.004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photons + adversary λ = 0.03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0.530 ± 0.014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0.567 ± 0.010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0.923 ± 0.009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photons + adversary λ = 0.05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0.518 ± 0.002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0.559 ± 0.005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0.897 ± 0.027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4" name="TextBox 303"/>
          <p:cNvSpPr txBox="1"/>
          <p:nvPr/>
        </p:nvSpPr>
        <p:spPr>
          <a:xfrm>
            <a:off x="548640" y="534924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Mean ± standard deviation over seeds (the seed also changes the k-fold split). The closure estimator itself repeats to ±0.001 (four repetitions).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8046720" y="1051560"/>
            <a:ext cx="3749039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λ = 0.05: closure is seed-independent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SR/SB 0.516–0.521 for all 7 seeds, 0.017 below step 1 (≈ 4× its seed spread)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λ = 0.03 is bimodal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SR/SB 0.516–0.549; on average no better than step 1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mγγ leakage within the SB is cut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lo/hi 0.648 ± 0.010 → 0.559 ± 0.005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Price: reconstruction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R² 0.85–0.93, seed-dependent; the worst seeds lose R² without gaining closure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tuning scan is a plateau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 (open circles): latent 32, KL 0.003, stronger or later adversary all fall inside the seed spread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Recommended Baseline and What Its Decoder Does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97280"/>
          <a:ext cx="5120640" cy="268833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168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Knob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Baseline value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Inputs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11 object slots + 2 photon slots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Latent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z 16 dims + m̂γγ head (weight 10)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Decoder condition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MLP(mγγ) 1 → 32, concatenated with z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KL weight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0.01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Adversary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0.05, 8 bins, hidden 256, 20 steps, lr 1e-3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Training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400 epochs; pick the seed by SB validation loss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548640" y="39319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Seed choice: across the 7 λ = 0.05 seeds the validation reconstruction loss ranks the test R² with Spearman 0.96; it picks seed 0 (s1f_adv0p05): AUC SR/SB 0.516, lo/hi 0.557, core R² 0.926 (SB) / 0.915 (SR).</a:t>
            </a:r>
          </a:p>
        </p:txBody>
      </p:sp>
      <p:pic>
        <p:nvPicPr>
          <p:cNvPr id="304" name="Picture 303" descr="myy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51560"/>
            <a:ext cx="5943600" cy="1634490"/>
          </a:xfrm>
          <a:prstGeom prst="rect">
            <a:avLst/>
          </a:prstGeom>
        </p:spPr>
      </p:pic>
      <p:sp>
        <p:nvSpPr>
          <p:cNvPr id="305" name="TextBox 304"/>
          <p:cNvSpPr txBox="1"/>
          <p:nvPr/>
        </p:nvSpPr>
        <p:spPr>
          <a:xfrm>
            <a:off x="5852160" y="2926080"/>
            <a:ext cx="5943600" cy="31089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Decoded photons carry the given mγγ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corr(decoded, given) 0.989 when mγγ is shuffled, corr with the event's true mγγ -0.001; rms 1.9 GeV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Kinematics follow partly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at fixed z the decoder shifts diphoton pT and MET with mγγ, in the data's direction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Multiplicities do not</a:t>
            </a: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n_jets stays flat (data rises), and the jet-1 pT slope is not in the data</a:t>
            </a:r>
          </a:p>
          <a:p>
            <a:pPr marL="571500" indent="-228600" algn="l">
              <a:lnSpc>
                <a:spcPct val="110000"/>
              </a:lnSpc>
              <a:spcBef>
                <a:spcPts val="300"/>
              </a:spcBef>
              <a:buClr>
                <a:srgbClr val="B83A4B"/>
              </a:buClr>
              <a:buSzPct val="100000"/>
              <a:buFont typeface="Arial"/>
              <a:buChar char="•"/>
            </a:pPr>
            <a:r>
              <a:rPr sz="1000" b="0" i="0">
                <a:solidFill>
                  <a:srgbClr val="3F3F3F"/>
                </a:solidFill>
                <a:latin typeface="Lato"/>
                <a:ea typeface="Lato"/>
                <a:cs typeface="Lato"/>
              </a:rPr>
              <a:t>irrelevant for the z-based classifier; matters only if decoded events are used (step 3)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852160" y="269748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Mean shift vs mγγ at fixed z (lines) and in the data (dots); SB test events.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Status and Next Steps (for Discussion)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97280"/>
          <a:ext cx="7132317" cy="38404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103119"/>
                <a:gridCol w="1005839"/>
                <a:gridCol w="4023359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Item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Status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Content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 1 reconstruction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done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ParT encoder + slot-query decoder, R² 0.965 (3 seeds)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Steps 1b–1c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done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photon slots, m̂ head, multi-step adversary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Multi-seed baseline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done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0.05: closure SR/SB 0.518 ± 0.002, R² 0.90 ± 0.03 (7 seeds)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Signal information in z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open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supervised signal vs SR background saturates (AUC ≥ 0.994 for every model and raw inputs)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Weak-supervision test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next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injected signal in the SR, classifier on z (SR vs SB template)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Generation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later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p(z) sampling + decoder at a given mγγ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7955279" y="1051560"/>
            <a:ext cx="384048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A  Weak-supervision injection test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 (proposed next): signal at several strengths in the SR; CWoLa-style classifier on z; significance improvement vs strength, step 1 vs baseline vs raw inputs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B  Recover reconstruction at λ = 0.05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longer training or a λ schedule; worth it only if A shows that R² limits the sensitivity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C  Residual closure 0.518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measure the fake excess it causes in the weak-supervision test with no injected signal (the null of A)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D  Generation (step 3)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only after A; needs the multiplicity dependence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Backup: Every Seed of the Baseline Study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51560"/>
          <a:ext cx="8229598" cy="469085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011680"/>
                <a:gridCol w="914400"/>
                <a:gridCol w="548640"/>
                <a:gridCol w="1005840"/>
                <a:gridCol w="1005840"/>
                <a:gridCol w="822959"/>
                <a:gridCol w="822959"/>
                <a:gridCol w="1097280"/>
              </a:tblGrid>
              <a:tr h="260603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Run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Config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seed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SR/SB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lo/hi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R² 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R² SR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γγ rms [GeV]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step1_seed0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 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0.655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–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step1_seed1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 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0.653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0.970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–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base_step1_s2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 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0.637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0.960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–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s1e_ph_adv0p03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0.521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0.573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0.931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1.97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s1f_adv0p03_s1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0.549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1.97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base_adv0p03_s2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0.934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1.88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base_adv0p03_s3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0.547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1.84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base_adv0p03_s4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0.527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1.88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base_adv0p03_s5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0.892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1.76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base_adv0p03_s6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0.587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0.908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1.77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s1f_adv0p05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1.91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base_adv0p05_s1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1.99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base_adv0p05_s2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0.906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1.99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base_adv0p05_s3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0.520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0.556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1.77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base_adv0p05_s4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0.881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0.863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1.97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base_adv0p05_s5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0.517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0.890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0.871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2.23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base_adv0p05_s6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0.05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0.521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0.848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0.837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2.63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9052560" y="1051560"/>
            <a:ext cx="274320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400 epochs each; the seed also sets the k-fold split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Runs s1e_*, s1f_* are from the tuning scan, base_* from the multi-seed study; same configuration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γγ rms: mγγ of the decoded photons vs the true mγγ, SB test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Spearman(val loss, test R²): λ 0.05 0.96, λ 0.03 0.18, step 1 0.50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Backup: Tuning Scan at 400 Epochs (Seed 0)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97280"/>
          <a:ext cx="7863840" cy="43891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926080"/>
                <a:gridCol w="1280160"/>
                <a:gridCol w="1280160"/>
                <a:gridCol w="1188720"/>
                <a:gridCol w="11887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Configuration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SR/SB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AUC lo/hi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R² 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R² SR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0.03 (reference, 7 seeds)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0.530 ± 0.014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0.567 ± 0.010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0.923 ± 0.009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0.919 ± 0.014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0.541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0.599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0.03, latent 32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0.03, KL 0.003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0.925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0.03, 40 adversary steps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0.905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0.03, decoder 256 × 4 layers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0.523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0.581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0.832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0.835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0.1, adversary from epoch 100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0.565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0.911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0.861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0.810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λ = 0.3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0.512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0.553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0.871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0.833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8686800" y="1051560"/>
            <a:ext cx="310896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Everything except the decoder change lies inside the λ = 0.03 seed spread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λ ≥ 0.1 gives the lowest closure AUCs, but R² falls to 0.86–0.91 on one seed; λ = 0.05 is the compromise that was then run on 7 seeds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A larger decoder is worse (0.83): the loss is not decoder-capacity-limited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Backup: Options Tried and Rejected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97280"/>
          <a:ext cx="11155679" cy="41148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43199"/>
                <a:gridCol w="5120640"/>
                <a:gridCol w="32918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Option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Result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Decision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DisCo: λ·dCor²(μ, mγγ)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unstable at λ ≥ 300 (KL explodes); with warm-up stable, closure 0.562 → 0.551 for 2× worse recon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dropped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mγγ as encoder input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mγγ leaks into z: SB-low vs SB-high AUC 0.85–0.93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dropped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Learned-variance decoder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KL collapses to about 4 nats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dropped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β = 0.1 (step 1)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latent starved (about 11 nats), b-tag never learned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β = 0.01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Gradient-reversal adversary (one step)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encoder dodges it: adversary at chance while a BDT still separates the bins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own optimizer, 20 steps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Direct mγγ concatenation (no MLP)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same mγγ behaviour; recon 0.845 vs 0.871 (photons), 0.875 vs 0.927 (no photons), 150 epochs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keep MLP(1 → 32)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No photon slots + adversary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decoder still ignores mγγ (shuffle test, λ = 1: core R² 0.631 → 0.631)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dropped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Conditioning on multiplicities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would require specifying them at generation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rejected by design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548640" y="53492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DisCo, encoder-input, learned-variance and β numbers are from the step-1 development runs (README.md); the others are in figs/summary.json.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Backup: Transfer Test and Supervised Signal Sensitivity</a:t>
            </a:r>
            <a:endParaRPr/>
          </a:p>
        </p:txBody>
      </p:sp>
      <p:graphicFrame>
        <p:nvGraphicFramePr>
          <p:cNvPr id="302" name="Table 301"/>
          <p:cNvGraphicFramePr>
            <a:graphicFrameLocks noGrp="1"/>
          </p:cNvGraphicFramePr>
          <p:nvPr/>
        </p:nvGraphicFramePr>
        <p:xfrm>
          <a:off x="548640" y="1097280"/>
          <a:ext cx="5669280" cy="1975104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743200"/>
                <a:gridCol w="146304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Decode z_A at mγγ from B (A→B)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step 1 (seed 0)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λ = 0.03 (seed 0)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BDT AUC transfer vs recon B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0.656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BDT AUC recon A vs recon B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0.930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shift reproduced: diphoton pT / MET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0.03 / 0.00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 / 0.63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shift reproduced: jet1 / jet2 pT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0.02 / 0.04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0.80 / 1.00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shift reproduced: n_jets / jet1 existence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0.00 / 0.00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0.00 / 0.00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3" name="TextBox 302"/>
          <p:cNvSpPr txBox="1"/>
          <p:nvPr/>
        </p:nvSpPr>
        <p:spPr>
          <a:xfrm>
            <a:off x="548640" y="32004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A = 105–120 GeV, B = 130–145 GeV (SB test). Shift reproduced = [mean(transfer) − mean(recon A)] / [mean(recon B) − mean(recon A)]. AUC 0.5 = perfect transfer. Recon A vs B is easy because the decoded photons carry mγγ.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6492240" y="1097280"/>
          <a:ext cx="5303520" cy="16459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560320"/>
                <a:gridCol w="914400"/>
                <a:gridCol w="914400"/>
                <a:gridCol w="9144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Signal vs SR background, BDT AUC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raw inputs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step 1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λ = 0.03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XHH_500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0.994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HVT_VcXjjHyy_2000_300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0.999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WN_HyyN_300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0.998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TT_tZNtHyyN_1000_205_60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1.000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5" name="TextBox 304"/>
          <p:cNvSpPr txBox="1"/>
          <p:nvPr/>
        </p:nvSpPr>
        <p:spPr>
          <a:xfrm>
            <a:off x="6492240" y="2926080"/>
            <a:ext cx="5303520" cy="301752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Fully supervised, 100k events per class: every representation separates every signal, so this test cannot rank models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Weak supervision at realistic signal fractions is the informative version (proposal A)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548640" y="3886200"/>
            <a:ext cx="5669280" cy="182880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The decoder moves kinematics with mγγ but not the existence logits, so decoded multiplicities do not change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Not needed for the z-based classifier; relevant again for generation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9" name="Google Shape;299;p32"/>
          <p:cNvSpPr txBox="1"/>
          <p:nvPr>
            <p:ph idx="11" type="ftr"/>
          </p:nvPr>
        </p:nvSpPr>
        <p:spPr>
          <a:xfrm>
            <a:off x="1634490" y="6282824"/>
            <a:ext cx="5852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Liangyu Wu</a:t>
            </a:r>
            <a:endParaRPr/>
          </a:p>
        </p:txBody>
      </p:sp>
      <p:sp>
        <p:nvSpPr>
          <p:cNvPr id="300" name="Google Shape;300;p32"/>
          <p:cNvSpPr txBox="1"/>
          <p:nvPr>
            <p:ph idx="12" type="sldNum"/>
          </p:nvPr>
        </p:nvSpPr>
        <p:spPr>
          <a:xfrm>
            <a:off x="8610600" y="628282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32"/>
          <p:cNvSpPr txBox="1"/>
          <p:nvPr>
            <p:ph type="title"/>
          </p:nvPr>
        </p:nvSpPr>
        <p:spPr>
          <a:xfrm>
            <a:off x="800099" y="266701"/>
            <a:ext cx="105969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C1515"/>
              </a:buClr>
              <a:buSzPts val="3200"/>
              <a:buFont typeface="Lato"/>
              <a:buNone/>
            </a:pPr>
            <a:r>
              <a:rPr lang="en-US"/>
              <a:t>Backup: Closure Test Definition and Its Noise</a:t>
            </a:r>
            <a:endParaRPr/>
          </a:p>
        </p:txBody>
      </p:sp>
      <p:sp>
        <p:nvSpPr>
          <p:cNvPr id="302" name="TextBox 301"/>
          <p:cNvSpPr txBox="1"/>
          <p:nvPr/>
        </p:nvSpPr>
        <p:spPr>
          <a:xfrm>
            <a:off x="548640" y="1051560"/>
            <a:ext cx="6766560" cy="4937760"/>
          </a:xfrm>
          <a:prstGeom prst="rect">
            <a:avLst/>
          </a:prstGeom>
          <a:noFill/>
        </p:spPr>
        <p:txBody>
          <a:bodyPr wrap="square" lIns="0" rIns="0" tIns="45700" bIns="45700">
            <a:spAutoFit/>
          </a:bodyPr>
          <a:lstStyle/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Inputs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μ (16 dims) of events never used in training: the SB test fold and the SR; SM Higgs removed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Classifier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HistGradientBoosting (300 iterations, early stopping), 3-fold, at most 300k events per class, classes balanced in the fit, physical weights in the AUC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SB-low vs SB-high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105–120 vs 130–145 GeV on the SB test fold; the strongest probe of mγγ in z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SR vs SB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SR vs SB test; the quantity that matters for the SR template</a:t>
            </a:r>
          </a:p>
          <a:p>
            <a:pPr marL="228600" indent="-228600" algn="l">
              <a:lnSpc>
                <a:spcPct val="11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Lato"/>
                <a:ea typeface="Lato"/>
                <a:cs typeface="Lato"/>
              </a:rPr>
              <a:t>Estimator noise</a:t>
            </a:r>
            <a:r>
              <a:rPr sz="1200" b="0" i="0">
                <a:solidFill>
                  <a:srgbClr val="000000"/>
                </a:solidFill>
                <a:latin typeface="Lato"/>
                <a:ea typeface="Lato"/>
                <a:cs typeface="Lato"/>
              </a:rPr>
              <a:t>: four repetitions with different subsamples give ±0.001 or less; the 0.03 seed spread of λ = 0.03 is model variation</a:t>
            </a:r>
          </a:p>
        </p:txBody>
      </p:sp>
      <p:graphicFrame>
        <p:nvGraphicFramePr>
          <p:cNvPr id="303" name="Table 302"/>
          <p:cNvGraphicFramePr>
            <a:graphicFrameLocks noGrp="1"/>
          </p:cNvGraphicFramePr>
          <p:nvPr/>
        </p:nvGraphicFramePr>
        <p:xfrm>
          <a:off x="7589520" y="1097280"/>
          <a:ext cx="4206240" cy="155448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828800"/>
                <a:gridCol w="1188720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Run (4 repetitions)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lo/hi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</a:rPr>
                        <a:t>SR/SB</a:t>
                      </a:r>
                    </a:p>
                  </a:txBody>
                  <a:tcPr marL="54000" marR="54000" marT="18000" marB="18000" anchor="ctr">
                    <a:solidFill>
                      <a:srgbClr val="8C151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step1_seed0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0.6550 ± 0.0003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0.5382 ± 0.0003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step1_seed1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0.6526 ± 0.0002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0.5366 ± 0.0004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s1e_ph_adv0p03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0.5709 ± 0.0007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0.5223 ± 0.0007</a:t>
                      </a:r>
                    </a:p>
                  </a:txBody>
                  <a:tcPr marL="54000" marR="54000" marT="18000" marB="180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s1f_adv0p03_s1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0.5647 ± 0.0008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F3F3F"/>
                          </a:solidFill>
                          <a:latin typeface="Lato"/>
                          <a:ea typeface="Lato"/>
                          <a:cs typeface="Lato"/>
                        </a:rPr>
                        <a:t>0.5472 ± 0.0014</a:t>
                      </a:r>
                    </a:p>
                  </a:txBody>
                  <a:tcPr marL="54000" marR="54000" marT="18000" marB="180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04" name="TextBox 303"/>
          <p:cNvSpPr txBox="1"/>
          <p:nvPr/>
        </p:nvSpPr>
        <p:spPr>
          <a:xfrm>
            <a:off x="7589520" y="2788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3F3F3F"/>
                </a:solidFill>
                <a:latin typeface="Lato"/>
                <a:ea typeface="Lato"/>
                <a:cs typeface="Lato"/>
              </a:rPr>
              <a:t>From store/closure_noise.py (logs/closure_noise.log).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C Interior Slide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C Covers/Title Slides">
  <a:themeElements>
    <a:clrScheme name="Custom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C1515"/>
      </a:accent1>
      <a:accent2>
        <a:srgbClr val="4198B5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